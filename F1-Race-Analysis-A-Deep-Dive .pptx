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01" d="100"/>
          <a:sy n="101" d="100"/>
        </p:scale>
        <p:origin x="77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7117" y="0"/>
            <a:ext cx="14553565" cy="8229600"/>
          </a:xfrm>
          <a:custGeom>
            <a:avLst/>
            <a:gdLst/>
            <a:ahLst/>
            <a:cxnLst/>
            <a:rect l="l" t="t" r="r" b="b"/>
            <a:pathLst>
              <a:path w="14553565" h="8229600">
                <a:moveTo>
                  <a:pt x="0" y="8229599"/>
                </a:moveTo>
                <a:lnTo>
                  <a:pt x="0" y="0"/>
                </a:lnTo>
                <a:lnTo>
                  <a:pt x="14553281" y="0"/>
                </a:lnTo>
                <a:lnTo>
                  <a:pt x="14553281" y="8229599"/>
                </a:lnTo>
                <a:lnTo>
                  <a:pt x="0" y="8229599"/>
                </a:lnTo>
                <a:close/>
              </a:path>
            </a:pathLst>
          </a:custGeom>
          <a:solidFill>
            <a:srgbClr val="191718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37201" y="939555"/>
            <a:ext cx="9491980" cy="680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0099" y="2035937"/>
            <a:ext cx="6420484" cy="3229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0480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399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14630399" y="0"/>
                </a:lnTo>
                <a:lnTo>
                  <a:pt x="14630399" y="8229599"/>
                </a:lnTo>
                <a:close/>
              </a:path>
            </a:pathLst>
          </a:custGeom>
          <a:solidFill>
            <a:srgbClr val="191718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9134" y="673772"/>
            <a:ext cx="6891655" cy="219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00"/>
              </a:lnSpc>
              <a:spcBef>
                <a:spcPts val="100"/>
              </a:spcBef>
            </a:pPr>
            <a:r>
              <a:rPr sz="5950" spc="-4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F1</a:t>
            </a:r>
            <a:r>
              <a:rPr sz="5950" spc="-6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5950" spc="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Race</a:t>
            </a:r>
            <a:r>
              <a:rPr sz="5950" spc="-6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595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 </a:t>
            </a:r>
            <a:r>
              <a:rPr sz="59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prediction</a:t>
            </a:r>
            <a:r>
              <a:rPr sz="5950" spc="5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5950" spc="-9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sz="5950" spc="-6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59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5950" spc="-6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595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Deep</a:t>
            </a:r>
            <a:endParaRPr sz="59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134" y="3173133"/>
            <a:ext cx="1435100" cy="932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950" spc="-95" dirty="0">
                <a:solidFill>
                  <a:srgbClr val="FFFFFF"/>
                </a:solidFill>
                <a:latin typeface="Tahoma"/>
                <a:cs typeface="Tahoma"/>
              </a:rPr>
              <a:t>Dive</a:t>
            </a:r>
            <a:endParaRPr sz="595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352" y="4572000"/>
            <a:ext cx="7293609" cy="191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5000"/>
              </a:lnSpc>
              <a:spcBef>
                <a:spcPts val="100"/>
              </a:spcBef>
            </a:pP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This</a:t>
            </a:r>
            <a:r>
              <a:rPr sz="20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project</a:t>
            </a:r>
            <a:r>
              <a:rPr sz="20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analyzes</a:t>
            </a:r>
            <a:r>
              <a:rPr sz="20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20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predicts</a:t>
            </a:r>
            <a:r>
              <a:rPr sz="20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the</a:t>
            </a:r>
            <a:r>
              <a:rPr sz="20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performance</a:t>
            </a:r>
            <a:r>
              <a:rPr sz="20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of</a:t>
            </a:r>
            <a:r>
              <a:rPr sz="20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Formula</a:t>
            </a:r>
            <a:r>
              <a:rPr sz="20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CCCCCC"/>
                </a:solidFill>
                <a:latin typeface="Arial"/>
                <a:cs typeface="Arial"/>
              </a:rPr>
              <a:t>1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drivers</a:t>
            </a:r>
            <a:r>
              <a:rPr sz="20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20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teams</a:t>
            </a:r>
            <a:r>
              <a:rPr sz="2000" spc="-4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based</a:t>
            </a:r>
            <a:r>
              <a:rPr sz="20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on</a:t>
            </a:r>
            <a:r>
              <a:rPr sz="20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historical</a:t>
            </a:r>
            <a:r>
              <a:rPr sz="2000" spc="-4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race</a:t>
            </a:r>
            <a:r>
              <a:rPr sz="20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data.</a:t>
            </a:r>
            <a:r>
              <a:rPr sz="2000" spc="-4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CCCCC"/>
                </a:solidFill>
                <a:latin typeface="Arial"/>
                <a:cs typeface="Arial"/>
              </a:rPr>
              <a:t>Leveraging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various</a:t>
            </a:r>
            <a:r>
              <a:rPr sz="2000" spc="-7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machine</a:t>
            </a:r>
            <a:r>
              <a:rPr sz="2000" spc="-6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learning</a:t>
            </a:r>
            <a:r>
              <a:rPr sz="2000" spc="-7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models</a:t>
            </a:r>
            <a:r>
              <a:rPr sz="2000" spc="-6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aims</a:t>
            </a:r>
            <a:r>
              <a:rPr sz="2000" spc="-6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to</a:t>
            </a:r>
            <a:r>
              <a:rPr sz="2000" spc="-7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provide</a:t>
            </a:r>
            <a:r>
              <a:rPr sz="2000" spc="-6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insights</a:t>
            </a:r>
            <a:r>
              <a:rPr sz="2000" spc="-6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to</a:t>
            </a:r>
            <a:r>
              <a:rPr sz="2000" spc="-7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CCCCCC"/>
                </a:solidFill>
                <a:latin typeface="Arial"/>
                <a:cs typeface="Arial"/>
              </a:rPr>
              <a:t>help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F1</a:t>
            </a:r>
            <a:r>
              <a:rPr sz="20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teams</a:t>
            </a:r>
            <a:r>
              <a:rPr sz="20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optimize</a:t>
            </a:r>
            <a:r>
              <a:rPr sz="20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their</a:t>
            </a:r>
            <a:r>
              <a:rPr sz="20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strategies</a:t>
            </a:r>
            <a:r>
              <a:rPr sz="20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20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improve</a:t>
            </a:r>
            <a:r>
              <a:rPr sz="20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CCCCCC"/>
                </a:solidFill>
                <a:latin typeface="Arial"/>
                <a:cs typeface="Arial"/>
              </a:rPr>
              <a:t>race</a:t>
            </a:r>
            <a:r>
              <a:rPr sz="20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CCCCCC"/>
                </a:solidFill>
                <a:latin typeface="Arial"/>
                <a:cs typeface="Arial"/>
              </a:rPr>
              <a:t>outcomes.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2313" y="686900"/>
            <a:ext cx="6407291" cy="62537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4759" y="2179344"/>
            <a:ext cx="4001770" cy="411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">
              <a:lnSpc>
                <a:spcPct val="100000"/>
              </a:lnSpc>
              <a:tabLst>
                <a:tab pos="3827779" algn="l"/>
              </a:tabLst>
            </a:pPr>
            <a:r>
              <a:rPr sz="2550" spc="-550" dirty="0">
                <a:solidFill>
                  <a:srgbClr val="E4E0DE"/>
                </a:solidFill>
                <a:latin typeface="Tahoma"/>
                <a:cs typeface="Tahoma"/>
              </a:rPr>
              <a:t>1</a:t>
            </a:r>
            <a:r>
              <a:rPr sz="2550" dirty="0">
                <a:solidFill>
                  <a:srgbClr val="E4E0DE"/>
                </a:solidFill>
                <a:latin typeface="Tahoma"/>
                <a:cs typeface="Tahoma"/>
              </a:rPr>
              <a:t>	</a:t>
            </a:r>
            <a:r>
              <a:rPr sz="2550" spc="-75" dirty="0">
                <a:solidFill>
                  <a:srgbClr val="E4E0DE"/>
                </a:solidFill>
                <a:latin typeface="Tahoma"/>
                <a:cs typeface="Tahoma"/>
              </a:rPr>
              <a:t>2</a:t>
            </a: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75"/>
              </a:spcBef>
            </a:pPr>
            <a:endParaRPr sz="25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2550" spc="-50" dirty="0">
                <a:solidFill>
                  <a:srgbClr val="E4E0DE"/>
                </a:solidFill>
                <a:latin typeface="Tahoma"/>
                <a:cs typeface="Tahoma"/>
              </a:rPr>
              <a:t>3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8425" y="303332"/>
            <a:ext cx="14531975" cy="8194040"/>
          </a:xfrm>
          <a:custGeom>
            <a:avLst/>
            <a:gdLst/>
            <a:ahLst/>
            <a:cxnLst/>
            <a:rect l="l" t="t" r="r" b="b"/>
            <a:pathLst>
              <a:path w="14531975" h="8194040">
                <a:moveTo>
                  <a:pt x="14531946" y="8193907"/>
                </a:moveTo>
                <a:lnTo>
                  <a:pt x="0" y="8193907"/>
                </a:lnTo>
                <a:lnTo>
                  <a:pt x="0" y="0"/>
                </a:lnTo>
                <a:lnTo>
                  <a:pt x="14531946" y="0"/>
                </a:lnTo>
                <a:lnTo>
                  <a:pt x="14531946" y="8193907"/>
                </a:lnTo>
                <a:close/>
              </a:path>
            </a:pathLst>
          </a:custGeom>
          <a:solidFill>
            <a:srgbClr val="191718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329923" y="799369"/>
            <a:ext cx="41402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ahoma"/>
                <a:cs typeface="Tahoma"/>
              </a:rPr>
              <a:t>Project</a:t>
            </a:r>
            <a:r>
              <a:rPr spc="690" dirty="0">
                <a:latin typeface="Tahoma"/>
                <a:cs typeface="Tahoma"/>
              </a:rPr>
              <a:t> </a:t>
            </a:r>
            <a:r>
              <a:rPr spc="-45" dirty="0">
                <a:latin typeface="Tahoma"/>
                <a:cs typeface="Tahoma"/>
              </a:rPr>
              <a:t>Overview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969127" y="2133488"/>
            <a:ext cx="6129655" cy="4343400"/>
            <a:chOff x="1969127" y="2133488"/>
            <a:chExt cx="6129655" cy="4343400"/>
          </a:xfrm>
        </p:grpSpPr>
        <p:sp>
          <p:nvSpPr>
            <p:cNvPr id="6" name="object 6"/>
            <p:cNvSpPr/>
            <p:nvPr/>
          </p:nvSpPr>
          <p:spPr>
            <a:xfrm>
              <a:off x="1976739" y="2184678"/>
              <a:ext cx="555625" cy="555625"/>
            </a:xfrm>
            <a:custGeom>
              <a:avLst/>
              <a:gdLst/>
              <a:ahLst/>
              <a:cxnLst/>
              <a:rect l="l" t="t" r="r" b="b"/>
              <a:pathLst>
                <a:path w="555625" h="555625">
                  <a:moveTo>
                    <a:pt x="451734" y="555426"/>
                  </a:moveTo>
                  <a:lnTo>
                    <a:pt x="103692" y="555426"/>
                  </a:lnTo>
                  <a:lnTo>
                    <a:pt x="63330" y="547278"/>
                  </a:lnTo>
                  <a:lnTo>
                    <a:pt x="30370" y="525056"/>
                  </a:lnTo>
                  <a:lnTo>
                    <a:pt x="8148" y="492096"/>
                  </a:lnTo>
                  <a:lnTo>
                    <a:pt x="0" y="451734"/>
                  </a:lnTo>
                  <a:lnTo>
                    <a:pt x="0" y="103692"/>
                  </a:lnTo>
                  <a:lnTo>
                    <a:pt x="8148" y="63330"/>
                  </a:lnTo>
                  <a:lnTo>
                    <a:pt x="30371" y="30370"/>
                  </a:lnTo>
                  <a:lnTo>
                    <a:pt x="63330" y="8148"/>
                  </a:lnTo>
                  <a:lnTo>
                    <a:pt x="103692" y="0"/>
                  </a:lnTo>
                  <a:lnTo>
                    <a:pt x="451734" y="0"/>
                  </a:lnTo>
                  <a:lnTo>
                    <a:pt x="491415" y="7893"/>
                  </a:lnTo>
                  <a:lnTo>
                    <a:pt x="525055" y="30370"/>
                  </a:lnTo>
                  <a:lnTo>
                    <a:pt x="547533" y="64011"/>
                  </a:lnTo>
                  <a:lnTo>
                    <a:pt x="555426" y="103692"/>
                  </a:lnTo>
                  <a:lnTo>
                    <a:pt x="555426" y="451734"/>
                  </a:lnTo>
                  <a:lnTo>
                    <a:pt x="547278" y="492096"/>
                  </a:lnTo>
                  <a:lnTo>
                    <a:pt x="525056" y="525056"/>
                  </a:lnTo>
                  <a:lnTo>
                    <a:pt x="492096" y="547278"/>
                  </a:lnTo>
                  <a:lnTo>
                    <a:pt x="451734" y="555426"/>
                  </a:lnTo>
                  <a:close/>
                </a:path>
              </a:pathLst>
            </a:custGeom>
            <a:solidFill>
              <a:srgbClr val="78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76739" y="2184678"/>
              <a:ext cx="555625" cy="555625"/>
            </a:xfrm>
            <a:custGeom>
              <a:avLst/>
              <a:gdLst/>
              <a:ahLst/>
              <a:cxnLst/>
              <a:rect l="l" t="t" r="r" b="b"/>
              <a:pathLst>
                <a:path w="555625" h="555625">
                  <a:moveTo>
                    <a:pt x="0" y="103692"/>
                  </a:moveTo>
                  <a:lnTo>
                    <a:pt x="8148" y="63330"/>
                  </a:lnTo>
                  <a:lnTo>
                    <a:pt x="30370" y="30370"/>
                  </a:lnTo>
                  <a:lnTo>
                    <a:pt x="63330" y="8148"/>
                  </a:lnTo>
                  <a:lnTo>
                    <a:pt x="103692" y="0"/>
                  </a:lnTo>
                  <a:lnTo>
                    <a:pt x="451734" y="0"/>
                  </a:lnTo>
                  <a:lnTo>
                    <a:pt x="491415" y="7893"/>
                  </a:lnTo>
                  <a:lnTo>
                    <a:pt x="525055" y="30370"/>
                  </a:lnTo>
                  <a:lnTo>
                    <a:pt x="547533" y="64011"/>
                  </a:lnTo>
                  <a:lnTo>
                    <a:pt x="555426" y="103692"/>
                  </a:lnTo>
                  <a:lnTo>
                    <a:pt x="555426" y="451734"/>
                  </a:lnTo>
                  <a:lnTo>
                    <a:pt x="547278" y="492096"/>
                  </a:lnTo>
                  <a:lnTo>
                    <a:pt x="525056" y="525056"/>
                  </a:lnTo>
                  <a:lnTo>
                    <a:pt x="492096" y="547278"/>
                  </a:lnTo>
                  <a:lnTo>
                    <a:pt x="451734" y="555426"/>
                  </a:lnTo>
                  <a:lnTo>
                    <a:pt x="103692" y="555426"/>
                  </a:lnTo>
                  <a:lnTo>
                    <a:pt x="63330" y="547278"/>
                  </a:lnTo>
                  <a:lnTo>
                    <a:pt x="30370" y="525056"/>
                  </a:lnTo>
                  <a:lnTo>
                    <a:pt x="8148" y="492096"/>
                  </a:lnTo>
                  <a:lnTo>
                    <a:pt x="0" y="451734"/>
                  </a:lnTo>
                  <a:lnTo>
                    <a:pt x="0" y="103692"/>
                  </a:lnTo>
                  <a:close/>
                </a:path>
              </a:pathLst>
            </a:custGeom>
            <a:ln w="15224">
              <a:solidFill>
                <a:srgbClr val="9220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35292" y="2141101"/>
              <a:ext cx="555625" cy="555625"/>
            </a:xfrm>
            <a:custGeom>
              <a:avLst/>
              <a:gdLst/>
              <a:ahLst/>
              <a:cxnLst/>
              <a:rect l="l" t="t" r="r" b="b"/>
              <a:pathLst>
                <a:path w="555625" h="555625">
                  <a:moveTo>
                    <a:pt x="451733" y="555426"/>
                  </a:moveTo>
                  <a:lnTo>
                    <a:pt x="103691" y="555426"/>
                  </a:lnTo>
                  <a:lnTo>
                    <a:pt x="63330" y="547278"/>
                  </a:lnTo>
                  <a:lnTo>
                    <a:pt x="30370" y="525056"/>
                  </a:lnTo>
                  <a:lnTo>
                    <a:pt x="8148" y="492096"/>
                  </a:lnTo>
                  <a:lnTo>
                    <a:pt x="0" y="451734"/>
                  </a:lnTo>
                  <a:lnTo>
                    <a:pt x="0" y="103692"/>
                  </a:lnTo>
                  <a:lnTo>
                    <a:pt x="8148" y="63330"/>
                  </a:lnTo>
                  <a:lnTo>
                    <a:pt x="30370" y="30370"/>
                  </a:lnTo>
                  <a:lnTo>
                    <a:pt x="63330" y="8148"/>
                  </a:lnTo>
                  <a:lnTo>
                    <a:pt x="103691" y="0"/>
                  </a:lnTo>
                  <a:lnTo>
                    <a:pt x="451733" y="0"/>
                  </a:lnTo>
                  <a:lnTo>
                    <a:pt x="491415" y="7893"/>
                  </a:lnTo>
                  <a:lnTo>
                    <a:pt x="525055" y="30370"/>
                  </a:lnTo>
                  <a:lnTo>
                    <a:pt x="547533" y="64011"/>
                  </a:lnTo>
                  <a:lnTo>
                    <a:pt x="555426" y="103692"/>
                  </a:lnTo>
                  <a:lnTo>
                    <a:pt x="555426" y="451734"/>
                  </a:lnTo>
                  <a:lnTo>
                    <a:pt x="547277" y="492096"/>
                  </a:lnTo>
                  <a:lnTo>
                    <a:pt x="525055" y="525056"/>
                  </a:lnTo>
                  <a:lnTo>
                    <a:pt x="492095" y="547278"/>
                  </a:lnTo>
                  <a:lnTo>
                    <a:pt x="451733" y="555426"/>
                  </a:lnTo>
                  <a:close/>
                </a:path>
              </a:pathLst>
            </a:custGeom>
            <a:solidFill>
              <a:srgbClr val="78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35292" y="2141101"/>
              <a:ext cx="555625" cy="555625"/>
            </a:xfrm>
            <a:custGeom>
              <a:avLst/>
              <a:gdLst/>
              <a:ahLst/>
              <a:cxnLst/>
              <a:rect l="l" t="t" r="r" b="b"/>
              <a:pathLst>
                <a:path w="555625" h="555625">
                  <a:moveTo>
                    <a:pt x="0" y="103692"/>
                  </a:moveTo>
                  <a:lnTo>
                    <a:pt x="8148" y="63330"/>
                  </a:lnTo>
                  <a:lnTo>
                    <a:pt x="30370" y="30370"/>
                  </a:lnTo>
                  <a:lnTo>
                    <a:pt x="63330" y="8148"/>
                  </a:lnTo>
                  <a:lnTo>
                    <a:pt x="103691" y="0"/>
                  </a:lnTo>
                  <a:lnTo>
                    <a:pt x="451733" y="0"/>
                  </a:lnTo>
                  <a:lnTo>
                    <a:pt x="491415" y="7893"/>
                  </a:lnTo>
                  <a:lnTo>
                    <a:pt x="525055" y="30370"/>
                  </a:lnTo>
                  <a:lnTo>
                    <a:pt x="547533" y="64011"/>
                  </a:lnTo>
                  <a:lnTo>
                    <a:pt x="555426" y="103692"/>
                  </a:lnTo>
                  <a:lnTo>
                    <a:pt x="555426" y="451734"/>
                  </a:lnTo>
                  <a:lnTo>
                    <a:pt x="547277" y="492096"/>
                  </a:lnTo>
                  <a:lnTo>
                    <a:pt x="525055" y="525056"/>
                  </a:lnTo>
                  <a:lnTo>
                    <a:pt x="492095" y="547278"/>
                  </a:lnTo>
                  <a:lnTo>
                    <a:pt x="451733" y="555426"/>
                  </a:lnTo>
                  <a:lnTo>
                    <a:pt x="103691" y="555426"/>
                  </a:lnTo>
                  <a:lnTo>
                    <a:pt x="63330" y="547278"/>
                  </a:lnTo>
                  <a:lnTo>
                    <a:pt x="30370" y="525056"/>
                  </a:lnTo>
                  <a:lnTo>
                    <a:pt x="8148" y="492096"/>
                  </a:lnTo>
                  <a:lnTo>
                    <a:pt x="0" y="451734"/>
                  </a:lnTo>
                  <a:lnTo>
                    <a:pt x="0" y="103692"/>
                  </a:lnTo>
                  <a:close/>
                </a:path>
              </a:pathLst>
            </a:custGeom>
            <a:ln w="15224">
              <a:solidFill>
                <a:srgbClr val="9220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76739" y="5913359"/>
              <a:ext cx="555625" cy="555625"/>
            </a:xfrm>
            <a:custGeom>
              <a:avLst/>
              <a:gdLst/>
              <a:ahLst/>
              <a:cxnLst/>
              <a:rect l="l" t="t" r="r" b="b"/>
              <a:pathLst>
                <a:path w="555625" h="555625">
                  <a:moveTo>
                    <a:pt x="451734" y="555426"/>
                  </a:moveTo>
                  <a:lnTo>
                    <a:pt x="103692" y="555426"/>
                  </a:lnTo>
                  <a:lnTo>
                    <a:pt x="63330" y="547278"/>
                  </a:lnTo>
                  <a:lnTo>
                    <a:pt x="30370" y="525056"/>
                  </a:lnTo>
                  <a:lnTo>
                    <a:pt x="8148" y="492096"/>
                  </a:lnTo>
                  <a:lnTo>
                    <a:pt x="0" y="451734"/>
                  </a:lnTo>
                  <a:lnTo>
                    <a:pt x="0" y="103692"/>
                  </a:lnTo>
                  <a:lnTo>
                    <a:pt x="8148" y="63330"/>
                  </a:lnTo>
                  <a:lnTo>
                    <a:pt x="30370" y="30370"/>
                  </a:lnTo>
                  <a:lnTo>
                    <a:pt x="63330" y="8148"/>
                  </a:lnTo>
                  <a:lnTo>
                    <a:pt x="103692" y="0"/>
                  </a:lnTo>
                  <a:lnTo>
                    <a:pt x="451734" y="0"/>
                  </a:lnTo>
                  <a:lnTo>
                    <a:pt x="491415" y="7893"/>
                  </a:lnTo>
                  <a:lnTo>
                    <a:pt x="525055" y="30370"/>
                  </a:lnTo>
                  <a:lnTo>
                    <a:pt x="547533" y="64011"/>
                  </a:lnTo>
                  <a:lnTo>
                    <a:pt x="555426" y="103692"/>
                  </a:lnTo>
                  <a:lnTo>
                    <a:pt x="555426" y="451734"/>
                  </a:lnTo>
                  <a:lnTo>
                    <a:pt x="547278" y="492096"/>
                  </a:lnTo>
                  <a:lnTo>
                    <a:pt x="525056" y="525056"/>
                  </a:lnTo>
                  <a:lnTo>
                    <a:pt x="492096" y="547278"/>
                  </a:lnTo>
                  <a:lnTo>
                    <a:pt x="451734" y="555426"/>
                  </a:lnTo>
                  <a:close/>
                </a:path>
              </a:pathLst>
            </a:custGeom>
            <a:solidFill>
              <a:srgbClr val="78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76739" y="5913359"/>
              <a:ext cx="555625" cy="555625"/>
            </a:xfrm>
            <a:custGeom>
              <a:avLst/>
              <a:gdLst/>
              <a:ahLst/>
              <a:cxnLst/>
              <a:rect l="l" t="t" r="r" b="b"/>
              <a:pathLst>
                <a:path w="555625" h="555625">
                  <a:moveTo>
                    <a:pt x="0" y="103692"/>
                  </a:moveTo>
                  <a:lnTo>
                    <a:pt x="8148" y="63330"/>
                  </a:lnTo>
                  <a:lnTo>
                    <a:pt x="30370" y="30370"/>
                  </a:lnTo>
                  <a:lnTo>
                    <a:pt x="63330" y="8148"/>
                  </a:lnTo>
                  <a:lnTo>
                    <a:pt x="103692" y="0"/>
                  </a:lnTo>
                  <a:lnTo>
                    <a:pt x="451734" y="0"/>
                  </a:lnTo>
                  <a:lnTo>
                    <a:pt x="491415" y="7893"/>
                  </a:lnTo>
                  <a:lnTo>
                    <a:pt x="525055" y="30370"/>
                  </a:lnTo>
                  <a:lnTo>
                    <a:pt x="547533" y="64011"/>
                  </a:lnTo>
                  <a:lnTo>
                    <a:pt x="555426" y="103692"/>
                  </a:lnTo>
                  <a:lnTo>
                    <a:pt x="555426" y="451734"/>
                  </a:lnTo>
                  <a:lnTo>
                    <a:pt x="547278" y="492096"/>
                  </a:lnTo>
                  <a:lnTo>
                    <a:pt x="525056" y="525056"/>
                  </a:lnTo>
                  <a:lnTo>
                    <a:pt x="492096" y="547278"/>
                  </a:lnTo>
                  <a:lnTo>
                    <a:pt x="451734" y="555426"/>
                  </a:lnTo>
                  <a:lnTo>
                    <a:pt x="103692" y="555426"/>
                  </a:lnTo>
                  <a:lnTo>
                    <a:pt x="63330" y="547278"/>
                  </a:lnTo>
                  <a:lnTo>
                    <a:pt x="30370" y="525056"/>
                  </a:lnTo>
                  <a:lnTo>
                    <a:pt x="8148" y="492096"/>
                  </a:lnTo>
                  <a:lnTo>
                    <a:pt x="0" y="451734"/>
                  </a:lnTo>
                  <a:lnTo>
                    <a:pt x="0" y="103692"/>
                  </a:lnTo>
                  <a:close/>
                </a:path>
              </a:pathLst>
            </a:custGeom>
            <a:ln w="15224">
              <a:solidFill>
                <a:srgbClr val="9220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66283" y="1984631"/>
            <a:ext cx="2925605" cy="1034899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2400" b="1" dirty="0">
                <a:solidFill>
                  <a:srgbClr val="E4E0DE"/>
                </a:solidFill>
                <a:latin typeface="Tahoma"/>
                <a:cs typeface="Tahoma"/>
              </a:rPr>
              <a:t>Race</a:t>
            </a:r>
            <a:r>
              <a:rPr sz="2400" b="1" spc="-20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2400" b="1" spc="-55" dirty="0">
                <a:solidFill>
                  <a:srgbClr val="E4E0DE"/>
                </a:solidFill>
                <a:latin typeface="Tahoma"/>
                <a:cs typeface="Tahoma"/>
              </a:rPr>
              <a:t>Data</a:t>
            </a:r>
            <a:r>
              <a:rPr sz="2400" b="1" spc="-19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E4E0DE"/>
                </a:solidFill>
                <a:latin typeface="Tahoma"/>
                <a:cs typeface="Tahoma"/>
              </a:rPr>
              <a:t>Analysis</a:t>
            </a:r>
            <a:endParaRPr sz="2400" b="1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66283" y="3125272"/>
            <a:ext cx="24091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past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F1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races.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66283" y="3430072"/>
            <a:ext cx="219392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5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includes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results dataset,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constructors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66283" y="4542592"/>
            <a:ext cx="24993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dataset,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drivers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dataset,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66283" y="5015031"/>
            <a:ext cx="18961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races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dataset.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47310" y="1903286"/>
            <a:ext cx="4611490" cy="1833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43890">
              <a:lnSpc>
                <a:spcPct val="1256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E4E0DE"/>
                </a:solidFill>
                <a:latin typeface="Tahoma"/>
                <a:cs typeface="Tahoma"/>
              </a:rPr>
              <a:t>Machine</a:t>
            </a:r>
            <a:r>
              <a:rPr sz="2400" b="1" spc="-19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E4E0DE"/>
                </a:solidFill>
                <a:latin typeface="Tahoma"/>
                <a:cs typeface="Tahoma"/>
              </a:rPr>
              <a:t>Learning Models</a:t>
            </a:r>
            <a:endParaRPr sz="2400" b="1" dirty="0">
              <a:latin typeface="Tahoma"/>
              <a:cs typeface="Tahoma"/>
            </a:endParaRPr>
          </a:p>
          <a:p>
            <a:pPr marL="12700" marR="5080">
              <a:lnSpc>
                <a:spcPts val="3720"/>
              </a:lnSpc>
            </a:pPr>
            <a:r>
              <a:rPr sz="1900" spc="-75" dirty="0">
                <a:solidFill>
                  <a:srgbClr val="E4E0DE"/>
                </a:solidFill>
                <a:latin typeface="Tahoma"/>
                <a:cs typeface="Tahoma"/>
              </a:rPr>
              <a:t>We</a:t>
            </a:r>
            <a:r>
              <a:rPr sz="1900" spc="-204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will</a:t>
            </a:r>
            <a:r>
              <a:rPr sz="1900" spc="-20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use</a:t>
            </a:r>
            <a:r>
              <a:rPr sz="1900" spc="-20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machine </a:t>
            </a:r>
            <a:r>
              <a:rPr sz="1900" spc="-20" dirty="0">
                <a:solidFill>
                  <a:srgbClr val="E4E0DE"/>
                </a:solidFill>
                <a:latin typeface="Tahoma"/>
                <a:cs typeface="Tahoma"/>
              </a:rPr>
              <a:t>learning</a:t>
            </a:r>
            <a:r>
              <a:rPr sz="1900" spc="-19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algorithms</a:t>
            </a:r>
            <a:r>
              <a:rPr sz="1900" spc="-19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25" dirty="0">
                <a:solidFill>
                  <a:srgbClr val="E4E0DE"/>
                </a:solidFill>
                <a:latin typeface="Tahoma"/>
                <a:cs typeface="Tahoma"/>
              </a:rPr>
              <a:t>to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identify</a:t>
            </a:r>
            <a:r>
              <a:rPr sz="1900" spc="-17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patterns</a:t>
            </a:r>
            <a:r>
              <a:rPr sz="1900" spc="-17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45" dirty="0">
                <a:solidFill>
                  <a:srgbClr val="E4E0DE"/>
                </a:solidFill>
                <a:latin typeface="Tahoma"/>
                <a:cs typeface="Tahoma"/>
              </a:rPr>
              <a:t>and</a:t>
            </a:r>
            <a:r>
              <a:rPr sz="1900" spc="-17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build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predictive</a:t>
            </a:r>
            <a:r>
              <a:rPr sz="1900" spc="-12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models</a:t>
            </a:r>
            <a:r>
              <a:rPr sz="1900" spc="-12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25" dirty="0">
                <a:solidFill>
                  <a:srgbClr val="E4E0DE"/>
                </a:solidFill>
                <a:latin typeface="Tahoma"/>
                <a:cs typeface="Tahoma"/>
              </a:rPr>
              <a:t>to </a:t>
            </a:r>
            <a:r>
              <a:rPr sz="1900" spc="-20" dirty="0">
                <a:solidFill>
                  <a:srgbClr val="E4E0DE"/>
                </a:solidFill>
                <a:latin typeface="Tahoma"/>
                <a:cs typeface="Tahoma"/>
              </a:rPr>
              <a:t>understand</a:t>
            </a:r>
            <a:r>
              <a:rPr sz="1900" spc="-13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20" dirty="0">
                <a:solidFill>
                  <a:srgbClr val="E4E0DE"/>
                </a:solidFill>
                <a:latin typeface="Tahoma"/>
                <a:cs typeface="Tahoma"/>
              </a:rPr>
              <a:t>race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dynamics.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66283" y="5703453"/>
            <a:ext cx="5679440" cy="1938655"/>
          </a:xfrm>
          <a:prstGeom prst="rect">
            <a:avLst/>
          </a:prstGeom>
        </p:spPr>
        <p:txBody>
          <a:bodyPr vert="horz" wrap="square" lIns="0" tIns="198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sz="2400" b="1" spc="-25" dirty="0">
                <a:solidFill>
                  <a:srgbClr val="E4E0DE"/>
                </a:solidFill>
                <a:latin typeface="Tahoma"/>
                <a:cs typeface="Tahoma"/>
              </a:rPr>
              <a:t>Insights</a:t>
            </a:r>
            <a:r>
              <a:rPr sz="2400" b="1" spc="-21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2400" b="1" spc="-45" dirty="0">
                <a:solidFill>
                  <a:srgbClr val="E4E0DE"/>
                </a:solidFill>
                <a:latin typeface="Tahoma"/>
                <a:cs typeface="Tahoma"/>
              </a:rPr>
              <a:t>and</a:t>
            </a:r>
            <a:r>
              <a:rPr sz="2400" b="1" spc="-204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E4E0DE"/>
                </a:solidFill>
                <a:latin typeface="Tahoma"/>
                <a:cs typeface="Tahoma"/>
              </a:rPr>
              <a:t>Recommendations</a:t>
            </a:r>
            <a:endParaRPr sz="2400" b="1" dirty="0">
              <a:latin typeface="Tahoma"/>
              <a:cs typeface="Tahoma"/>
            </a:endParaRPr>
          </a:p>
          <a:p>
            <a:pPr marL="12700" marR="5080">
              <a:lnSpc>
                <a:spcPts val="3720"/>
              </a:lnSpc>
              <a:spcBef>
                <a:spcPts val="20"/>
              </a:spcBef>
            </a:pPr>
            <a:r>
              <a:rPr sz="1900" spc="-75" dirty="0">
                <a:solidFill>
                  <a:srgbClr val="E4E0DE"/>
                </a:solidFill>
                <a:latin typeface="Tahoma"/>
                <a:cs typeface="Tahoma"/>
              </a:rPr>
              <a:t>We</a:t>
            </a:r>
            <a:r>
              <a:rPr sz="1900" spc="-15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will</a:t>
            </a:r>
            <a:r>
              <a:rPr sz="1900" spc="-15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extract</a:t>
            </a:r>
            <a:r>
              <a:rPr sz="1900" spc="-15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actionable</a:t>
            </a:r>
            <a:r>
              <a:rPr sz="1900" spc="-15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insights</a:t>
            </a:r>
            <a:r>
              <a:rPr sz="1900" spc="-15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45" dirty="0">
                <a:solidFill>
                  <a:srgbClr val="E4E0DE"/>
                </a:solidFill>
                <a:latin typeface="Tahoma"/>
                <a:cs typeface="Tahoma"/>
              </a:rPr>
              <a:t>and</a:t>
            </a:r>
            <a:r>
              <a:rPr sz="1900" spc="-15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provide recommendations</a:t>
            </a:r>
            <a:r>
              <a:rPr sz="1900" spc="-17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to</a:t>
            </a:r>
            <a:r>
              <a:rPr sz="1900" spc="-17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25" dirty="0">
                <a:solidFill>
                  <a:srgbClr val="E4E0DE"/>
                </a:solidFill>
                <a:latin typeface="Tahoma"/>
                <a:cs typeface="Tahoma"/>
              </a:rPr>
              <a:t>improve</a:t>
            </a:r>
            <a:r>
              <a:rPr sz="1900" spc="-17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20" dirty="0">
                <a:solidFill>
                  <a:srgbClr val="E4E0DE"/>
                </a:solidFill>
                <a:latin typeface="Tahoma"/>
                <a:cs typeface="Tahoma"/>
              </a:rPr>
              <a:t>team</a:t>
            </a:r>
            <a:r>
              <a:rPr sz="1900" spc="-17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strategy</a:t>
            </a:r>
            <a:r>
              <a:rPr sz="1900" spc="-17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45" dirty="0">
                <a:solidFill>
                  <a:srgbClr val="E4E0DE"/>
                </a:solidFill>
                <a:latin typeface="Tahoma"/>
                <a:cs typeface="Tahoma"/>
              </a:rPr>
              <a:t>and</a:t>
            </a:r>
            <a:r>
              <a:rPr sz="1900" spc="-17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driver performance.</a:t>
            </a:r>
            <a:endParaRPr sz="19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0648" y="627980"/>
            <a:ext cx="792099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ahoma"/>
                <a:cs typeface="Tahoma"/>
              </a:rPr>
              <a:t>Business</a:t>
            </a:r>
            <a:r>
              <a:rPr spc="-395" dirty="0">
                <a:latin typeface="Tahoma"/>
                <a:cs typeface="Tahoma"/>
              </a:rPr>
              <a:t> </a:t>
            </a:r>
            <a:r>
              <a:rPr spc="-95" dirty="0">
                <a:latin typeface="Tahoma"/>
                <a:cs typeface="Tahoma"/>
              </a:rPr>
              <a:t>and</a:t>
            </a:r>
            <a:r>
              <a:rPr spc="-390" dirty="0">
                <a:latin typeface="Tahoma"/>
                <a:cs typeface="Tahoma"/>
              </a:rPr>
              <a:t> </a:t>
            </a:r>
            <a:r>
              <a:rPr spc="-90" dirty="0">
                <a:latin typeface="Tahoma"/>
                <a:cs typeface="Tahoma"/>
              </a:rPr>
              <a:t>Data</a:t>
            </a:r>
            <a:r>
              <a:rPr spc="-390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Understanding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4236" y="2882460"/>
            <a:ext cx="3897629" cy="3778599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345"/>
              </a:spcBef>
            </a:pPr>
            <a:r>
              <a:rPr sz="2800" b="1" dirty="0">
                <a:solidFill>
                  <a:srgbClr val="FFFFFF"/>
                </a:solidFill>
                <a:latin typeface="Tahoma"/>
                <a:cs typeface="Tahoma"/>
              </a:rPr>
              <a:t>Business</a:t>
            </a:r>
            <a:r>
              <a:rPr sz="28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ahoma"/>
                <a:cs typeface="Tahoma"/>
              </a:rPr>
              <a:t>Objectives</a:t>
            </a:r>
            <a:endParaRPr sz="2800" b="1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04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goal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analyze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(F1)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gain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insights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race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performance,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constructor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strategies,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driver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effectiveness.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aims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provide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valuable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stakeholders,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team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managers,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sponsors,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sports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analysts,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help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them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make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informed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decisions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future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races,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sponsorship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opportunities,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driver selections.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52606" y="2869000"/>
            <a:ext cx="322903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8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understanding</a:t>
            </a:r>
            <a:endParaRPr sz="2800" b="1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52606" y="5146301"/>
            <a:ext cx="1928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dates,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circuits.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2574" y="3500382"/>
            <a:ext cx="3815079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marR="170180" indent="-80645">
              <a:lnSpc>
                <a:spcPct val="100000"/>
              </a:lnSpc>
              <a:spcBef>
                <a:spcPts val="100"/>
              </a:spcBef>
              <a:buChar char="•"/>
              <a:tabLst>
                <a:tab pos="92710" algn="l"/>
                <a:tab pos="218440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	Results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Race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details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like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position,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points,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time.</a:t>
            </a:r>
            <a:endParaRPr sz="1800">
              <a:latin typeface="Arial"/>
              <a:cs typeface="Arial"/>
            </a:endParaRPr>
          </a:p>
          <a:p>
            <a:pPr marL="92710" marR="564515" indent="-80645">
              <a:lnSpc>
                <a:spcPct val="100000"/>
              </a:lnSpc>
              <a:buChar char="•"/>
              <a:tabLst>
                <a:tab pos="92710" algn="l"/>
                <a:tab pos="218440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	Constructors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on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teams,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including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names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and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nationalities.</a:t>
            </a:r>
            <a:endParaRPr sz="1800">
              <a:latin typeface="Arial"/>
              <a:cs typeface="Arial"/>
            </a:endParaRPr>
          </a:p>
          <a:p>
            <a:pPr marL="282575" indent="-269875">
              <a:lnSpc>
                <a:spcPct val="100000"/>
              </a:lnSpc>
              <a:buChar char="•"/>
              <a:tabLst>
                <a:tab pos="28257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Races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race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locations,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378460" marR="5080" lvl="1" indent="-252095">
              <a:lnSpc>
                <a:spcPct val="100000"/>
              </a:lnSpc>
              <a:buChar char="•"/>
              <a:tabLst>
                <a:tab pos="378460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Drivers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Driver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details,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including nationality,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wins,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career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stats.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399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14630399" y="0"/>
                </a:lnTo>
                <a:lnTo>
                  <a:pt x="14630399" y="8229599"/>
                </a:lnTo>
                <a:close/>
              </a:path>
            </a:pathLst>
          </a:custGeom>
          <a:solidFill>
            <a:srgbClr val="191718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110910" y="465303"/>
            <a:ext cx="215455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latin typeface="Tahoma"/>
                <a:cs typeface="Tahoma"/>
              </a:rPr>
              <a:t>Modeling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582468" y="1357304"/>
            <a:ext cx="5586095" cy="1100455"/>
            <a:chOff x="3582468" y="1357304"/>
            <a:chExt cx="5586095" cy="1100455"/>
          </a:xfrm>
        </p:grpSpPr>
        <p:sp>
          <p:nvSpPr>
            <p:cNvPr id="5" name="object 5"/>
            <p:cNvSpPr/>
            <p:nvPr/>
          </p:nvSpPr>
          <p:spPr>
            <a:xfrm>
              <a:off x="3590088" y="1364924"/>
              <a:ext cx="5570855" cy="1085215"/>
            </a:xfrm>
            <a:custGeom>
              <a:avLst/>
              <a:gdLst/>
              <a:ahLst/>
              <a:cxnLst/>
              <a:rect l="l" t="t" r="r" b="b"/>
              <a:pathLst>
                <a:path w="5570855" h="1085214">
                  <a:moveTo>
                    <a:pt x="5532786" y="1084594"/>
                  </a:moveTo>
                  <a:lnTo>
                    <a:pt x="37613" y="1084594"/>
                  </a:lnTo>
                  <a:lnTo>
                    <a:pt x="22972" y="1081638"/>
                  </a:lnTo>
                  <a:lnTo>
                    <a:pt x="11016" y="1073577"/>
                  </a:lnTo>
                  <a:lnTo>
                    <a:pt x="2955" y="1061622"/>
                  </a:lnTo>
                  <a:lnTo>
                    <a:pt x="0" y="1046981"/>
                  </a:lnTo>
                  <a:lnTo>
                    <a:pt x="0" y="37613"/>
                  </a:lnTo>
                  <a:lnTo>
                    <a:pt x="2955" y="22972"/>
                  </a:lnTo>
                  <a:lnTo>
                    <a:pt x="11016" y="11016"/>
                  </a:lnTo>
                  <a:lnTo>
                    <a:pt x="22972" y="2955"/>
                  </a:lnTo>
                  <a:lnTo>
                    <a:pt x="37613" y="0"/>
                  </a:lnTo>
                  <a:lnTo>
                    <a:pt x="5532786" y="0"/>
                  </a:lnTo>
                  <a:lnTo>
                    <a:pt x="5567536" y="23219"/>
                  </a:lnTo>
                  <a:lnTo>
                    <a:pt x="5570399" y="37613"/>
                  </a:lnTo>
                  <a:lnTo>
                    <a:pt x="5570399" y="1046981"/>
                  </a:lnTo>
                  <a:lnTo>
                    <a:pt x="5567443" y="1061622"/>
                  </a:lnTo>
                  <a:lnTo>
                    <a:pt x="5559382" y="1073577"/>
                  </a:lnTo>
                  <a:lnTo>
                    <a:pt x="5547427" y="1081638"/>
                  </a:lnTo>
                  <a:lnTo>
                    <a:pt x="5532786" y="1084594"/>
                  </a:lnTo>
                  <a:close/>
                </a:path>
              </a:pathLst>
            </a:custGeom>
            <a:solidFill>
              <a:srgbClr val="78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0088" y="1364924"/>
              <a:ext cx="5570855" cy="1085215"/>
            </a:xfrm>
            <a:custGeom>
              <a:avLst/>
              <a:gdLst/>
              <a:ahLst/>
              <a:cxnLst/>
              <a:rect l="l" t="t" r="r" b="b"/>
              <a:pathLst>
                <a:path w="5570855" h="1085214">
                  <a:moveTo>
                    <a:pt x="0" y="37613"/>
                  </a:moveTo>
                  <a:lnTo>
                    <a:pt x="2955" y="22972"/>
                  </a:lnTo>
                  <a:lnTo>
                    <a:pt x="11016" y="11016"/>
                  </a:lnTo>
                  <a:lnTo>
                    <a:pt x="22972" y="2955"/>
                  </a:lnTo>
                  <a:lnTo>
                    <a:pt x="37613" y="0"/>
                  </a:lnTo>
                  <a:lnTo>
                    <a:pt x="5532786" y="0"/>
                  </a:lnTo>
                  <a:lnTo>
                    <a:pt x="5567536" y="23219"/>
                  </a:lnTo>
                  <a:lnTo>
                    <a:pt x="5570399" y="37613"/>
                  </a:lnTo>
                  <a:lnTo>
                    <a:pt x="5570399" y="1046981"/>
                  </a:lnTo>
                  <a:lnTo>
                    <a:pt x="5567443" y="1061622"/>
                  </a:lnTo>
                  <a:lnTo>
                    <a:pt x="5559382" y="1073577"/>
                  </a:lnTo>
                  <a:lnTo>
                    <a:pt x="5547427" y="1081638"/>
                  </a:lnTo>
                  <a:lnTo>
                    <a:pt x="5532786" y="1084594"/>
                  </a:lnTo>
                  <a:lnTo>
                    <a:pt x="37613" y="1084594"/>
                  </a:lnTo>
                  <a:lnTo>
                    <a:pt x="22972" y="1081638"/>
                  </a:lnTo>
                  <a:lnTo>
                    <a:pt x="11016" y="1073577"/>
                  </a:lnTo>
                  <a:lnTo>
                    <a:pt x="2955" y="1061622"/>
                  </a:lnTo>
                  <a:lnTo>
                    <a:pt x="0" y="1046981"/>
                  </a:lnTo>
                  <a:lnTo>
                    <a:pt x="0" y="37613"/>
                  </a:lnTo>
                  <a:close/>
                </a:path>
              </a:pathLst>
            </a:custGeom>
            <a:ln w="15224">
              <a:solidFill>
                <a:srgbClr val="9220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057081" y="1470784"/>
            <a:ext cx="474789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project,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utilize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modeling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gain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our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data.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Specifically,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our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three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categories: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Top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Top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Out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..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40901" y="2489161"/>
            <a:ext cx="1965325" cy="563245"/>
            <a:chOff x="6040901" y="2489161"/>
            <a:chExt cx="1965325" cy="563245"/>
          </a:xfrm>
        </p:grpSpPr>
        <p:sp>
          <p:nvSpPr>
            <p:cNvPr id="9" name="object 9"/>
            <p:cNvSpPr/>
            <p:nvPr/>
          </p:nvSpPr>
          <p:spPr>
            <a:xfrm>
              <a:off x="6061396" y="2493923"/>
              <a:ext cx="0" cy="510540"/>
            </a:xfrm>
            <a:custGeom>
              <a:avLst/>
              <a:gdLst/>
              <a:ahLst/>
              <a:cxnLst/>
              <a:rect l="l" t="t" r="r" b="b"/>
              <a:pathLst>
                <a:path h="510539">
                  <a:moveTo>
                    <a:pt x="0" y="0"/>
                  </a:moveTo>
                  <a:lnTo>
                    <a:pt x="0" y="510149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45663" y="300407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45663" y="300407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06552" y="2628800"/>
              <a:ext cx="1791970" cy="339725"/>
            </a:xfrm>
            <a:custGeom>
              <a:avLst/>
              <a:gdLst/>
              <a:ahLst/>
              <a:cxnLst/>
              <a:rect l="l" t="t" r="r" b="b"/>
              <a:pathLst>
                <a:path w="1791970" h="339725">
                  <a:moveTo>
                    <a:pt x="1786627" y="339599"/>
                  </a:moveTo>
                  <a:lnTo>
                    <a:pt x="5272" y="339599"/>
                  </a:lnTo>
                  <a:lnTo>
                    <a:pt x="0" y="334327"/>
                  </a:lnTo>
                  <a:lnTo>
                    <a:pt x="0" y="11777"/>
                  </a:lnTo>
                  <a:lnTo>
                    <a:pt x="0" y="5272"/>
                  </a:lnTo>
                  <a:lnTo>
                    <a:pt x="5272" y="0"/>
                  </a:lnTo>
                  <a:lnTo>
                    <a:pt x="1783246" y="0"/>
                  </a:lnTo>
                  <a:lnTo>
                    <a:pt x="1786241" y="1240"/>
                  </a:lnTo>
                  <a:lnTo>
                    <a:pt x="1790658" y="5658"/>
                  </a:lnTo>
                  <a:lnTo>
                    <a:pt x="1791900" y="8653"/>
                  </a:lnTo>
                  <a:lnTo>
                    <a:pt x="1791900" y="334327"/>
                  </a:lnTo>
                  <a:lnTo>
                    <a:pt x="1786627" y="339599"/>
                  </a:lnTo>
                  <a:close/>
                </a:path>
              </a:pathLst>
            </a:custGeom>
            <a:solidFill>
              <a:srgbClr val="78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06552" y="2628800"/>
              <a:ext cx="1791970" cy="339725"/>
            </a:xfrm>
            <a:custGeom>
              <a:avLst/>
              <a:gdLst/>
              <a:ahLst/>
              <a:cxnLst/>
              <a:rect l="l" t="t" r="r" b="b"/>
              <a:pathLst>
                <a:path w="1791970" h="339725">
                  <a:moveTo>
                    <a:pt x="0" y="11777"/>
                  </a:moveTo>
                  <a:lnTo>
                    <a:pt x="0" y="5272"/>
                  </a:lnTo>
                  <a:lnTo>
                    <a:pt x="5272" y="0"/>
                  </a:lnTo>
                  <a:lnTo>
                    <a:pt x="11777" y="0"/>
                  </a:lnTo>
                  <a:lnTo>
                    <a:pt x="1780122" y="0"/>
                  </a:lnTo>
                  <a:lnTo>
                    <a:pt x="1783246" y="0"/>
                  </a:lnTo>
                  <a:lnTo>
                    <a:pt x="1786241" y="1240"/>
                  </a:lnTo>
                  <a:lnTo>
                    <a:pt x="1788450" y="3449"/>
                  </a:lnTo>
                  <a:lnTo>
                    <a:pt x="1790658" y="5658"/>
                  </a:lnTo>
                  <a:lnTo>
                    <a:pt x="1791900" y="8653"/>
                  </a:lnTo>
                  <a:lnTo>
                    <a:pt x="1791900" y="11777"/>
                  </a:lnTo>
                  <a:lnTo>
                    <a:pt x="1791900" y="327822"/>
                  </a:lnTo>
                  <a:lnTo>
                    <a:pt x="1791900" y="334327"/>
                  </a:lnTo>
                  <a:lnTo>
                    <a:pt x="1786627" y="339599"/>
                  </a:lnTo>
                  <a:lnTo>
                    <a:pt x="1780122" y="339599"/>
                  </a:lnTo>
                  <a:lnTo>
                    <a:pt x="11777" y="339599"/>
                  </a:lnTo>
                  <a:lnTo>
                    <a:pt x="5272" y="339599"/>
                  </a:lnTo>
                  <a:lnTo>
                    <a:pt x="0" y="334327"/>
                  </a:lnTo>
                  <a:lnTo>
                    <a:pt x="0" y="327822"/>
                  </a:lnTo>
                  <a:lnTo>
                    <a:pt x="0" y="11777"/>
                  </a:lnTo>
                  <a:close/>
                </a:path>
              </a:pathLst>
            </a:custGeom>
            <a:ln w="15224">
              <a:solidFill>
                <a:srgbClr val="9220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283027" y="2653585"/>
            <a:ext cx="13481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classification modelling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962777" y="3035920"/>
            <a:ext cx="7730490" cy="1506220"/>
            <a:chOff x="2962777" y="3035920"/>
            <a:chExt cx="7730490" cy="1506220"/>
          </a:xfrm>
        </p:grpSpPr>
        <p:sp>
          <p:nvSpPr>
            <p:cNvPr id="16" name="object 16"/>
            <p:cNvSpPr/>
            <p:nvPr/>
          </p:nvSpPr>
          <p:spPr>
            <a:xfrm>
              <a:off x="2967539" y="3078480"/>
              <a:ext cx="19050" cy="672465"/>
            </a:xfrm>
            <a:custGeom>
              <a:avLst/>
              <a:gdLst/>
              <a:ahLst/>
              <a:cxnLst/>
              <a:rect l="l" t="t" r="r" b="b"/>
              <a:pathLst>
                <a:path w="19050" h="672464">
                  <a:moveTo>
                    <a:pt x="0" y="0"/>
                  </a:moveTo>
                  <a:lnTo>
                    <a:pt x="18801" y="672172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70615" y="375021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935" y="43648"/>
                  </a:moveTo>
                  <a:lnTo>
                    <a:pt x="0" y="879"/>
                  </a:lnTo>
                  <a:lnTo>
                    <a:pt x="31453" y="0"/>
                  </a:lnTo>
                  <a:lnTo>
                    <a:pt x="16935" y="436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70615" y="375021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879"/>
                  </a:moveTo>
                  <a:lnTo>
                    <a:pt x="16935" y="43648"/>
                  </a:lnTo>
                  <a:lnTo>
                    <a:pt x="31453" y="0"/>
                  </a:lnTo>
                  <a:lnTo>
                    <a:pt x="0" y="87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370203" y="3088383"/>
              <a:ext cx="10795" cy="652780"/>
            </a:xfrm>
            <a:custGeom>
              <a:avLst/>
              <a:gdLst/>
              <a:ahLst/>
              <a:cxnLst/>
              <a:rect l="l" t="t" r="r" b="b"/>
              <a:pathLst>
                <a:path w="10795" h="652779">
                  <a:moveTo>
                    <a:pt x="0" y="0"/>
                  </a:moveTo>
                  <a:lnTo>
                    <a:pt x="10206" y="652356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364677" y="37404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406" y="43465"/>
                  </a:moveTo>
                  <a:lnTo>
                    <a:pt x="0" y="492"/>
                  </a:lnTo>
                  <a:lnTo>
                    <a:pt x="31461" y="0"/>
                  </a:lnTo>
                  <a:lnTo>
                    <a:pt x="16406" y="434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364677" y="374049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492"/>
                  </a:moveTo>
                  <a:lnTo>
                    <a:pt x="16406" y="43465"/>
                  </a:lnTo>
                  <a:lnTo>
                    <a:pt x="31461" y="0"/>
                  </a:lnTo>
                  <a:lnTo>
                    <a:pt x="0" y="49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67544" y="3040683"/>
              <a:ext cx="6375400" cy="23495"/>
            </a:xfrm>
            <a:custGeom>
              <a:avLst/>
              <a:gdLst/>
              <a:ahLst/>
              <a:cxnLst/>
              <a:rect l="l" t="t" r="r" b="b"/>
              <a:pathLst>
                <a:path w="6375400" h="23494">
                  <a:moveTo>
                    <a:pt x="6375299" y="230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02900" y="3826799"/>
              <a:ext cx="3082290" cy="707390"/>
            </a:xfrm>
            <a:custGeom>
              <a:avLst/>
              <a:gdLst/>
              <a:ahLst/>
              <a:cxnLst/>
              <a:rect l="l" t="t" r="r" b="b"/>
              <a:pathLst>
                <a:path w="3082290" h="707389">
                  <a:moveTo>
                    <a:pt x="3057677" y="707099"/>
                  </a:moveTo>
                  <a:lnTo>
                    <a:pt x="24522" y="707099"/>
                  </a:lnTo>
                  <a:lnTo>
                    <a:pt x="14977" y="705172"/>
                  </a:lnTo>
                  <a:lnTo>
                    <a:pt x="7182" y="699917"/>
                  </a:lnTo>
                  <a:lnTo>
                    <a:pt x="1927" y="692122"/>
                  </a:lnTo>
                  <a:lnTo>
                    <a:pt x="0" y="682577"/>
                  </a:lnTo>
                  <a:lnTo>
                    <a:pt x="0" y="24522"/>
                  </a:lnTo>
                  <a:lnTo>
                    <a:pt x="1927" y="14977"/>
                  </a:lnTo>
                  <a:lnTo>
                    <a:pt x="7182" y="7182"/>
                  </a:lnTo>
                  <a:lnTo>
                    <a:pt x="14977" y="1927"/>
                  </a:lnTo>
                  <a:lnTo>
                    <a:pt x="24522" y="0"/>
                  </a:lnTo>
                  <a:lnTo>
                    <a:pt x="3064181" y="0"/>
                  </a:lnTo>
                  <a:lnTo>
                    <a:pt x="3070418" y="2583"/>
                  </a:lnTo>
                  <a:lnTo>
                    <a:pt x="3079616" y="11781"/>
                  </a:lnTo>
                  <a:lnTo>
                    <a:pt x="3082199" y="18018"/>
                  </a:lnTo>
                  <a:lnTo>
                    <a:pt x="3082199" y="682577"/>
                  </a:lnTo>
                  <a:lnTo>
                    <a:pt x="3080272" y="692122"/>
                  </a:lnTo>
                  <a:lnTo>
                    <a:pt x="3075017" y="699917"/>
                  </a:lnTo>
                  <a:lnTo>
                    <a:pt x="3067222" y="705172"/>
                  </a:lnTo>
                  <a:lnTo>
                    <a:pt x="3057677" y="707099"/>
                  </a:lnTo>
                  <a:close/>
                </a:path>
              </a:pathLst>
            </a:custGeom>
            <a:solidFill>
              <a:srgbClr val="78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02900" y="3826799"/>
              <a:ext cx="3082290" cy="707390"/>
            </a:xfrm>
            <a:custGeom>
              <a:avLst/>
              <a:gdLst/>
              <a:ahLst/>
              <a:cxnLst/>
              <a:rect l="l" t="t" r="r" b="b"/>
              <a:pathLst>
                <a:path w="3082290" h="707389">
                  <a:moveTo>
                    <a:pt x="0" y="24522"/>
                  </a:moveTo>
                  <a:lnTo>
                    <a:pt x="1927" y="14977"/>
                  </a:lnTo>
                  <a:lnTo>
                    <a:pt x="7182" y="7182"/>
                  </a:lnTo>
                  <a:lnTo>
                    <a:pt x="14977" y="1927"/>
                  </a:lnTo>
                  <a:lnTo>
                    <a:pt x="24522" y="0"/>
                  </a:lnTo>
                  <a:lnTo>
                    <a:pt x="3057677" y="0"/>
                  </a:lnTo>
                  <a:lnTo>
                    <a:pt x="3064181" y="0"/>
                  </a:lnTo>
                  <a:lnTo>
                    <a:pt x="3070418" y="2583"/>
                  </a:lnTo>
                  <a:lnTo>
                    <a:pt x="3075017" y="7182"/>
                  </a:lnTo>
                  <a:lnTo>
                    <a:pt x="3079616" y="11781"/>
                  </a:lnTo>
                  <a:lnTo>
                    <a:pt x="3082199" y="18018"/>
                  </a:lnTo>
                  <a:lnTo>
                    <a:pt x="3082199" y="24522"/>
                  </a:lnTo>
                  <a:lnTo>
                    <a:pt x="3082199" y="682577"/>
                  </a:lnTo>
                  <a:lnTo>
                    <a:pt x="3080272" y="692122"/>
                  </a:lnTo>
                  <a:lnTo>
                    <a:pt x="3075017" y="699917"/>
                  </a:lnTo>
                  <a:lnTo>
                    <a:pt x="3067223" y="705172"/>
                  </a:lnTo>
                  <a:lnTo>
                    <a:pt x="3057677" y="707099"/>
                  </a:lnTo>
                  <a:lnTo>
                    <a:pt x="24522" y="707099"/>
                  </a:lnTo>
                  <a:lnTo>
                    <a:pt x="14977" y="705172"/>
                  </a:lnTo>
                  <a:lnTo>
                    <a:pt x="7182" y="699917"/>
                  </a:lnTo>
                  <a:lnTo>
                    <a:pt x="1927" y="692122"/>
                  </a:lnTo>
                  <a:lnTo>
                    <a:pt x="0" y="682577"/>
                  </a:lnTo>
                  <a:lnTo>
                    <a:pt x="0" y="24522"/>
                  </a:lnTo>
                  <a:close/>
                </a:path>
              </a:pathLst>
            </a:custGeom>
            <a:ln w="15224">
              <a:solidFill>
                <a:srgbClr val="9220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683107" y="3849222"/>
            <a:ext cx="26301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sz="2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Tree</a:t>
            </a:r>
            <a:r>
              <a:rPr sz="2000" spc="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677114" y="3743044"/>
            <a:ext cx="2706370" cy="722630"/>
            <a:chOff x="1677114" y="3743044"/>
            <a:chExt cx="2706370" cy="722630"/>
          </a:xfrm>
        </p:grpSpPr>
        <p:sp>
          <p:nvSpPr>
            <p:cNvPr id="27" name="object 27"/>
            <p:cNvSpPr/>
            <p:nvPr/>
          </p:nvSpPr>
          <p:spPr>
            <a:xfrm>
              <a:off x="1684726" y="3750656"/>
              <a:ext cx="2691130" cy="707390"/>
            </a:xfrm>
            <a:custGeom>
              <a:avLst/>
              <a:gdLst/>
              <a:ahLst/>
              <a:cxnLst/>
              <a:rect l="l" t="t" r="r" b="b"/>
              <a:pathLst>
                <a:path w="2691129" h="707389">
                  <a:moveTo>
                    <a:pt x="2666177" y="707099"/>
                  </a:moveTo>
                  <a:lnTo>
                    <a:pt x="24522" y="707099"/>
                  </a:lnTo>
                  <a:lnTo>
                    <a:pt x="14977" y="705172"/>
                  </a:lnTo>
                  <a:lnTo>
                    <a:pt x="7182" y="699917"/>
                  </a:lnTo>
                  <a:lnTo>
                    <a:pt x="1927" y="692122"/>
                  </a:lnTo>
                  <a:lnTo>
                    <a:pt x="0" y="682577"/>
                  </a:lnTo>
                  <a:lnTo>
                    <a:pt x="0" y="24522"/>
                  </a:lnTo>
                  <a:lnTo>
                    <a:pt x="1927" y="14977"/>
                  </a:lnTo>
                  <a:lnTo>
                    <a:pt x="7182" y="7182"/>
                  </a:lnTo>
                  <a:lnTo>
                    <a:pt x="14977" y="1927"/>
                  </a:lnTo>
                  <a:lnTo>
                    <a:pt x="24522" y="0"/>
                  </a:lnTo>
                  <a:lnTo>
                    <a:pt x="2672681" y="0"/>
                  </a:lnTo>
                  <a:lnTo>
                    <a:pt x="2678918" y="2583"/>
                  </a:lnTo>
                  <a:lnTo>
                    <a:pt x="2688116" y="11781"/>
                  </a:lnTo>
                  <a:lnTo>
                    <a:pt x="2690699" y="18018"/>
                  </a:lnTo>
                  <a:lnTo>
                    <a:pt x="2690699" y="682577"/>
                  </a:lnTo>
                  <a:lnTo>
                    <a:pt x="2688772" y="692122"/>
                  </a:lnTo>
                  <a:lnTo>
                    <a:pt x="2683517" y="699917"/>
                  </a:lnTo>
                  <a:lnTo>
                    <a:pt x="2675722" y="705172"/>
                  </a:lnTo>
                  <a:lnTo>
                    <a:pt x="2666177" y="707099"/>
                  </a:lnTo>
                  <a:close/>
                </a:path>
              </a:pathLst>
            </a:custGeom>
            <a:solidFill>
              <a:srgbClr val="7806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84726" y="3750656"/>
              <a:ext cx="2691130" cy="707390"/>
            </a:xfrm>
            <a:custGeom>
              <a:avLst/>
              <a:gdLst/>
              <a:ahLst/>
              <a:cxnLst/>
              <a:rect l="l" t="t" r="r" b="b"/>
              <a:pathLst>
                <a:path w="2691129" h="707389">
                  <a:moveTo>
                    <a:pt x="0" y="24522"/>
                  </a:moveTo>
                  <a:lnTo>
                    <a:pt x="1927" y="14977"/>
                  </a:lnTo>
                  <a:lnTo>
                    <a:pt x="7182" y="7182"/>
                  </a:lnTo>
                  <a:lnTo>
                    <a:pt x="14977" y="1927"/>
                  </a:lnTo>
                  <a:lnTo>
                    <a:pt x="24522" y="0"/>
                  </a:lnTo>
                  <a:lnTo>
                    <a:pt x="2666177" y="0"/>
                  </a:lnTo>
                  <a:lnTo>
                    <a:pt x="2672681" y="0"/>
                  </a:lnTo>
                  <a:lnTo>
                    <a:pt x="2678918" y="2583"/>
                  </a:lnTo>
                  <a:lnTo>
                    <a:pt x="2683517" y="7182"/>
                  </a:lnTo>
                  <a:lnTo>
                    <a:pt x="2688116" y="11781"/>
                  </a:lnTo>
                  <a:lnTo>
                    <a:pt x="2690699" y="18018"/>
                  </a:lnTo>
                  <a:lnTo>
                    <a:pt x="2690699" y="24522"/>
                  </a:lnTo>
                  <a:lnTo>
                    <a:pt x="2690699" y="682577"/>
                  </a:lnTo>
                  <a:lnTo>
                    <a:pt x="2688772" y="692122"/>
                  </a:lnTo>
                  <a:lnTo>
                    <a:pt x="2683517" y="699917"/>
                  </a:lnTo>
                  <a:lnTo>
                    <a:pt x="2675722" y="705172"/>
                  </a:lnTo>
                  <a:lnTo>
                    <a:pt x="2666177" y="707099"/>
                  </a:lnTo>
                  <a:lnTo>
                    <a:pt x="24522" y="707099"/>
                  </a:lnTo>
                  <a:lnTo>
                    <a:pt x="14977" y="705172"/>
                  </a:lnTo>
                  <a:lnTo>
                    <a:pt x="7182" y="699917"/>
                  </a:lnTo>
                  <a:lnTo>
                    <a:pt x="1927" y="692122"/>
                  </a:lnTo>
                  <a:lnTo>
                    <a:pt x="0" y="682577"/>
                  </a:lnTo>
                  <a:lnTo>
                    <a:pt x="0" y="24522"/>
                  </a:lnTo>
                  <a:close/>
                </a:path>
              </a:pathLst>
            </a:custGeom>
            <a:ln w="15224">
              <a:solidFill>
                <a:srgbClr val="9220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764934" y="3771047"/>
            <a:ext cx="2349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Logistic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399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14630399" y="0"/>
                </a:lnTo>
                <a:lnTo>
                  <a:pt x="14630399" y="8229599"/>
                </a:lnTo>
                <a:close/>
              </a:path>
            </a:pathLst>
          </a:custGeom>
          <a:solidFill>
            <a:srgbClr val="191718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/>
              <a:t>Logistic</a:t>
            </a:r>
            <a:r>
              <a:rPr spc="-140" dirty="0"/>
              <a:t> </a:t>
            </a:r>
            <a:r>
              <a:rPr spc="-10" dirty="0"/>
              <a:t>Regression</a:t>
            </a:r>
            <a:r>
              <a:rPr spc="-135" dirty="0"/>
              <a:t> </a:t>
            </a:r>
            <a:r>
              <a:rPr dirty="0"/>
              <a:t>Model</a:t>
            </a:r>
            <a:r>
              <a:rPr spc="-140" dirty="0"/>
              <a:t> </a:t>
            </a:r>
            <a:r>
              <a:rPr spc="-10" dirty="0"/>
              <a:t>Evaluation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77822" y="2308466"/>
          <a:ext cx="6330948" cy="3229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Precision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Recall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F1_score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Support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0.55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0.67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134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449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242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Macro</a:t>
                      </a:r>
                      <a:r>
                        <a:rPr sz="1800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0.78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85725" marR="3117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weighted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0.84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329423" y="6157577"/>
            <a:ext cx="4805680" cy="151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" indent="-69850">
              <a:lnSpc>
                <a:spcPct val="100000"/>
              </a:lnSpc>
              <a:spcBef>
                <a:spcPts val="100"/>
              </a:spcBef>
              <a:buSzPct val="92857"/>
              <a:buChar char="•"/>
              <a:tabLst>
                <a:tab pos="7429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Accuracy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85%</a:t>
            </a:r>
            <a:endParaRPr sz="1400">
              <a:latin typeface="Arial"/>
              <a:cs typeface="Arial"/>
            </a:endParaRPr>
          </a:p>
          <a:p>
            <a:pPr marL="74295" indent="-69850">
              <a:lnSpc>
                <a:spcPct val="100000"/>
              </a:lnSpc>
              <a:buSzPct val="92857"/>
              <a:buChar char="•"/>
              <a:tabLst>
                <a:tab pos="7429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Precision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85%,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Recall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55%,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F1-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Score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67%</a:t>
            </a:r>
            <a:endParaRPr sz="1400">
              <a:latin typeface="Arial"/>
              <a:cs typeface="Arial"/>
            </a:endParaRPr>
          </a:p>
          <a:p>
            <a:pPr marL="74295" indent="-69850">
              <a:lnSpc>
                <a:spcPct val="100000"/>
              </a:lnSpc>
              <a:buSzPct val="92857"/>
              <a:buChar char="•"/>
              <a:tabLst>
                <a:tab pos="7429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Precision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82%,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Recall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93%,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F1-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Score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87%</a:t>
            </a:r>
            <a:endParaRPr sz="1400">
              <a:latin typeface="Arial"/>
              <a:cs typeface="Arial"/>
            </a:endParaRPr>
          </a:p>
          <a:p>
            <a:pPr marL="74295" indent="-69850">
              <a:lnSpc>
                <a:spcPct val="100000"/>
              </a:lnSpc>
              <a:buSzPct val="92857"/>
              <a:buChar char="•"/>
              <a:tabLst>
                <a:tab pos="7429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Precision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91%,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Recall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87%,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F1-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Score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89%</a:t>
            </a:r>
            <a:endParaRPr sz="1400">
              <a:latin typeface="Arial"/>
              <a:cs typeface="Arial"/>
            </a:endParaRPr>
          </a:p>
          <a:p>
            <a:pPr marL="74295" marR="5080" indent="-70485">
              <a:lnSpc>
                <a:spcPct val="100000"/>
              </a:lnSpc>
              <a:buSzPct val="92857"/>
              <a:buChar char="•"/>
              <a:tabLst>
                <a:tab pos="7429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Insight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performs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2,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high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precision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recall.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shows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lower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recall,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indicating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room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improvement.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599" y="2314816"/>
            <a:ext cx="5486398" cy="33698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399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14630399" y="0"/>
                </a:lnTo>
                <a:lnTo>
                  <a:pt x="14630399" y="8229599"/>
                </a:lnTo>
                <a:close/>
              </a:path>
            </a:pathLst>
          </a:custGeom>
          <a:solidFill>
            <a:srgbClr val="191718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Decision</a:t>
            </a:r>
            <a:r>
              <a:rPr spc="-155" dirty="0"/>
              <a:t> </a:t>
            </a:r>
            <a:r>
              <a:rPr spc="-50" dirty="0"/>
              <a:t>Tree</a:t>
            </a:r>
            <a:r>
              <a:rPr spc="-150" dirty="0"/>
              <a:t> </a:t>
            </a:r>
            <a:r>
              <a:rPr spc="-10" dirty="0"/>
              <a:t>Regression</a:t>
            </a:r>
            <a:r>
              <a:rPr spc="-150" dirty="0"/>
              <a:t> </a:t>
            </a:r>
            <a:r>
              <a:rPr dirty="0"/>
              <a:t>Model</a:t>
            </a:r>
            <a:r>
              <a:rPr spc="-150" dirty="0"/>
              <a:t> </a:t>
            </a:r>
            <a:r>
              <a:rPr spc="-10" dirty="0"/>
              <a:t>Evaluation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78199" y="2035937"/>
          <a:ext cx="6330948" cy="3229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Precision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Recall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F1_score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Support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134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449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1.00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1.00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1.00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242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Macro</a:t>
                      </a:r>
                      <a:r>
                        <a:rPr sz="1800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85725" marR="3117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weighted 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0.98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759081" y="5673881"/>
            <a:ext cx="417576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Accuracy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98%</a:t>
            </a:r>
            <a:endParaRPr sz="1400">
              <a:latin typeface="Arial"/>
              <a:cs typeface="Arial"/>
            </a:endParaRPr>
          </a:p>
          <a:p>
            <a:pPr marL="74295" indent="-69850">
              <a:lnSpc>
                <a:spcPct val="100000"/>
              </a:lnSpc>
              <a:buSzPct val="92857"/>
              <a:buChar char="•"/>
              <a:tabLst>
                <a:tab pos="7429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Precision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95%,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Recall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93%,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F1-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Score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94%</a:t>
            </a:r>
            <a:endParaRPr sz="1400">
              <a:latin typeface="Arial"/>
              <a:cs typeface="Arial"/>
            </a:endParaRPr>
          </a:p>
          <a:p>
            <a:pPr marL="74295" indent="-69850">
              <a:lnSpc>
                <a:spcPct val="100000"/>
              </a:lnSpc>
              <a:buSzPct val="92857"/>
              <a:buChar char="•"/>
              <a:tabLst>
                <a:tab pos="7429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Precision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98%,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Recall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98%,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F1-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Score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98%</a:t>
            </a:r>
            <a:endParaRPr sz="1400">
              <a:latin typeface="Arial"/>
              <a:cs typeface="Arial"/>
            </a:endParaRPr>
          </a:p>
          <a:p>
            <a:pPr marL="74295" indent="-69850">
              <a:lnSpc>
                <a:spcPct val="100000"/>
              </a:lnSpc>
              <a:buSzPct val="92857"/>
              <a:buChar char="•"/>
              <a:tabLst>
                <a:tab pos="7429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Precision,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Recall,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F1-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Score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100%</a:t>
            </a:r>
            <a:endParaRPr sz="1400">
              <a:latin typeface="Arial"/>
              <a:cs typeface="Arial"/>
            </a:endParaRPr>
          </a:p>
          <a:p>
            <a:pPr marL="74295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Points:</a:t>
            </a:r>
            <a:endParaRPr sz="1400">
              <a:latin typeface="Arial"/>
              <a:cs typeface="Arial"/>
            </a:endParaRPr>
          </a:p>
          <a:p>
            <a:pPr marL="74295" indent="-69850">
              <a:lnSpc>
                <a:spcPct val="100000"/>
              </a:lnSpc>
              <a:buSzPct val="92857"/>
              <a:buChar char="•"/>
              <a:tabLst>
                <a:tab pos="7429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High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accuracy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across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classes.</a:t>
            </a:r>
            <a:endParaRPr sz="1400">
              <a:latin typeface="Arial"/>
              <a:cs typeface="Arial"/>
            </a:endParaRPr>
          </a:p>
          <a:p>
            <a:pPr marL="74295" indent="-69850">
              <a:lnSpc>
                <a:spcPct val="100000"/>
              </a:lnSpc>
              <a:buSzPct val="92857"/>
              <a:buChar char="•"/>
              <a:tabLst>
                <a:tab pos="7429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Perfect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endParaRPr sz="1400">
              <a:latin typeface="Arial"/>
              <a:cs typeface="Arial"/>
            </a:endParaRPr>
          </a:p>
          <a:p>
            <a:pPr marL="74295" indent="-69850">
              <a:lnSpc>
                <a:spcPct val="100000"/>
              </a:lnSpc>
              <a:buSzPct val="92857"/>
              <a:buChar char="•"/>
              <a:tabLst>
                <a:tab pos="74295" algn="l"/>
              </a:tabLst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8286" y="2097474"/>
            <a:ext cx="5263307" cy="3230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4542769" cy="8229600"/>
          </a:xfrm>
          <a:custGeom>
            <a:avLst/>
            <a:gdLst/>
            <a:ahLst/>
            <a:cxnLst/>
            <a:rect l="l" t="t" r="r" b="b"/>
            <a:pathLst>
              <a:path w="14542769" h="8229600">
                <a:moveTo>
                  <a:pt x="14542264" y="0"/>
                </a:moveTo>
                <a:lnTo>
                  <a:pt x="14542264" y="8229599"/>
                </a:lnTo>
                <a:lnTo>
                  <a:pt x="0" y="8229599"/>
                </a:lnTo>
                <a:lnTo>
                  <a:pt x="0" y="0"/>
                </a:lnTo>
                <a:lnTo>
                  <a:pt x="14542264" y="0"/>
                </a:lnTo>
                <a:close/>
              </a:path>
            </a:pathLst>
          </a:custGeom>
          <a:solidFill>
            <a:srgbClr val="191718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42621" y="617390"/>
            <a:ext cx="2249805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spc="-10" dirty="0"/>
              <a:t>Conclusion</a:t>
            </a:r>
            <a:endParaRPr sz="3950"/>
          </a:p>
        </p:txBody>
      </p:sp>
      <p:grpSp>
        <p:nvGrpSpPr>
          <p:cNvPr id="4" name="object 4"/>
          <p:cNvGrpSpPr/>
          <p:nvPr/>
        </p:nvGrpSpPr>
        <p:grpSpPr>
          <a:xfrm>
            <a:off x="1248576" y="1370722"/>
            <a:ext cx="1740535" cy="4768215"/>
            <a:chOff x="1248576" y="1370722"/>
            <a:chExt cx="1740535" cy="47682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8576" y="1370722"/>
              <a:ext cx="1740383" cy="18215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8576" y="4075575"/>
              <a:ext cx="1740383" cy="206278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498265" y="2030336"/>
            <a:ext cx="8412480" cy="70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Improved</a:t>
            </a:r>
            <a:r>
              <a:rPr sz="1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Accuracy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decision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tree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achieved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high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accuracy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98%,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reflecting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its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effectiveness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making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reliable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predictions.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5383" y="4093972"/>
            <a:ext cx="8499475" cy="70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Precision,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recall,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F1-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score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improved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significantly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across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classes,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especially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2,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indicating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performance.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4630400" cy="8064500"/>
          </a:xfrm>
          <a:custGeom>
            <a:avLst/>
            <a:gdLst/>
            <a:ahLst/>
            <a:cxnLst/>
            <a:rect l="l" t="t" r="r" b="b"/>
            <a:pathLst>
              <a:path w="14630400" h="8064500">
                <a:moveTo>
                  <a:pt x="14630399" y="8064346"/>
                </a:moveTo>
                <a:lnTo>
                  <a:pt x="0" y="8064346"/>
                </a:lnTo>
                <a:lnTo>
                  <a:pt x="0" y="0"/>
                </a:lnTo>
                <a:lnTo>
                  <a:pt x="14630399" y="0"/>
                </a:lnTo>
                <a:lnTo>
                  <a:pt x="14630399" y="8064346"/>
                </a:lnTo>
                <a:close/>
              </a:path>
            </a:pathLst>
          </a:custGeom>
          <a:solidFill>
            <a:srgbClr val="191718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35876" y="637213"/>
            <a:ext cx="3634740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spc="-10" dirty="0"/>
              <a:t>Recommendation</a:t>
            </a:r>
            <a:endParaRPr sz="39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576" y="1370722"/>
            <a:ext cx="1740383" cy="58229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98265" y="2030336"/>
            <a:ext cx="9192260" cy="240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1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(Top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Finishers)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perfectly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predicts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top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finishers,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suggesting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78100"/>
              </a:lnSpc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understanding</a:t>
            </a: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factors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leading</a:t>
            </a: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success.</a:t>
            </a: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Continue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focus</a:t>
            </a: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variables</a:t>
            </a: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influencing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top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performance.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600">
              <a:latin typeface="Arial"/>
              <a:cs typeface="Arial"/>
            </a:endParaRPr>
          </a:p>
          <a:p>
            <a:pPr marL="12700" marR="288290">
              <a:lnSpc>
                <a:spcPct val="178100"/>
              </a:lnSpc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decision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tree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its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superior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performance,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optimized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should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predictions.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98265" y="5610527"/>
            <a:ext cx="873442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35" dirty="0">
                <a:solidFill>
                  <a:srgbClr val="E4E0DE"/>
                </a:solidFill>
                <a:latin typeface="Tahoma"/>
                <a:cs typeface="Tahoma"/>
              </a:rPr>
              <a:t>Develop</a:t>
            </a:r>
            <a:r>
              <a:rPr sz="1750" spc="-114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E4E0DE"/>
                </a:solidFill>
                <a:latin typeface="Tahoma"/>
                <a:cs typeface="Tahoma"/>
              </a:rPr>
              <a:t>more</a:t>
            </a:r>
            <a:r>
              <a:rPr sz="1750" spc="-114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E4E0DE"/>
                </a:solidFill>
                <a:latin typeface="Tahoma"/>
                <a:cs typeface="Tahoma"/>
              </a:rPr>
              <a:t>effective</a:t>
            </a:r>
            <a:r>
              <a:rPr sz="1750" spc="-11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E4E0DE"/>
                </a:solidFill>
                <a:latin typeface="Tahoma"/>
                <a:cs typeface="Tahoma"/>
              </a:rPr>
              <a:t>race</a:t>
            </a:r>
            <a:r>
              <a:rPr sz="1750" spc="-114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E4E0DE"/>
                </a:solidFill>
                <a:latin typeface="Tahoma"/>
                <a:cs typeface="Tahoma"/>
              </a:rPr>
              <a:t>strategies</a:t>
            </a:r>
            <a:r>
              <a:rPr sz="1750" spc="-114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750" spc="-55" dirty="0">
                <a:solidFill>
                  <a:srgbClr val="E4E0DE"/>
                </a:solidFill>
                <a:latin typeface="Tahoma"/>
                <a:cs typeface="Tahoma"/>
              </a:rPr>
              <a:t>by</a:t>
            </a:r>
            <a:r>
              <a:rPr sz="1750" spc="-11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750" spc="-25" dirty="0">
                <a:solidFill>
                  <a:srgbClr val="E4E0DE"/>
                </a:solidFill>
                <a:latin typeface="Tahoma"/>
                <a:cs typeface="Tahoma"/>
              </a:rPr>
              <a:t>leveraging</a:t>
            </a:r>
            <a:r>
              <a:rPr sz="1750" spc="-114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E4E0DE"/>
                </a:solidFill>
                <a:latin typeface="Tahoma"/>
                <a:cs typeface="Tahoma"/>
              </a:rPr>
              <a:t>insights</a:t>
            </a:r>
            <a:r>
              <a:rPr sz="1750" spc="-11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E4E0DE"/>
                </a:solidFill>
                <a:latin typeface="Tahoma"/>
                <a:cs typeface="Tahoma"/>
              </a:rPr>
              <a:t>into</a:t>
            </a:r>
            <a:r>
              <a:rPr sz="1750" spc="-114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E4E0DE"/>
                </a:solidFill>
                <a:latin typeface="Tahoma"/>
                <a:cs typeface="Tahoma"/>
              </a:rPr>
              <a:t>competitor</a:t>
            </a:r>
            <a:r>
              <a:rPr sz="1750" spc="-114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E4E0DE"/>
                </a:solidFill>
                <a:latin typeface="Tahoma"/>
                <a:cs typeface="Tahoma"/>
              </a:rPr>
              <a:t>performance,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750" spc="-20" dirty="0">
                <a:solidFill>
                  <a:srgbClr val="E4E0DE"/>
                </a:solidFill>
                <a:latin typeface="Tahoma"/>
                <a:cs typeface="Tahoma"/>
              </a:rPr>
              <a:t>weather</a:t>
            </a:r>
            <a:r>
              <a:rPr sz="1750" spc="-114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E4E0DE"/>
                </a:solidFill>
                <a:latin typeface="Tahoma"/>
                <a:cs typeface="Tahoma"/>
              </a:rPr>
              <a:t>forecasts,</a:t>
            </a:r>
            <a:r>
              <a:rPr sz="1750" spc="-114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750" spc="-35" dirty="0">
                <a:solidFill>
                  <a:srgbClr val="E4E0DE"/>
                </a:solidFill>
                <a:latin typeface="Tahoma"/>
                <a:cs typeface="Tahoma"/>
              </a:rPr>
              <a:t>and</a:t>
            </a:r>
            <a:r>
              <a:rPr sz="1750" spc="-114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E4E0DE"/>
                </a:solidFill>
                <a:latin typeface="Tahoma"/>
                <a:cs typeface="Tahoma"/>
              </a:rPr>
              <a:t>track</a:t>
            </a:r>
            <a:r>
              <a:rPr sz="1750" spc="-114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E4E0DE"/>
                </a:solidFill>
                <a:latin typeface="Tahoma"/>
                <a:cs typeface="Tahoma"/>
              </a:rPr>
              <a:t>conditions.</a:t>
            </a:r>
            <a:endParaRPr sz="1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399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14630399" y="0"/>
                </a:lnTo>
                <a:lnTo>
                  <a:pt x="14630399" y="8229599"/>
                </a:lnTo>
                <a:close/>
              </a:path>
            </a:pathLst>
          </a:custGeom>
          <a:solidFill>
            <a:srgbClr val="191718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125881" y="566533"/>
            <a:ext cx="261175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ahoma"/>
                <a:cs typeface="Tahoma"/>
              </a:rPr>
              <a:t>Next</a:t>
            </a:r>
            <a:r>
              <a:rPr spc="-465" dirty="0">
                <a:latin typeface="Tahoma"/>
                <a:cs typeface="Tahoma"/>
              </a:rPr>
              <a:t> </a:t>
            </a:r>
            <a:r>
              <a:rPr spc="45" dirty="0">
                <a:latin typeface="Tahoma"/>
                <a:cs typeface="Tahoma"/>
              </a:rPr>
              <a:t>Steps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09796" y="1639999"/>
            <a:ext cx="729932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Continue</a:t>
            </a:r>
            <a:r>
              <a:rPr sz="1900" spc="-19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to</a:t>
            </a:r>
            <a:r>
              <a:rPr sz="1900" spc="-18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reﬁne</a:t>
            </a:r>
            <a:r>
              <a:rPr sz="1900" spc="-18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the</a:t>
            </a:r>
            <a:r>
              <a:rPr sz="1900" spc="-18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models</a:t>
            </a:r>
            <a:r>
              <a:rPr sz="1900" spc="-18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65" dirty="0">
                <a:solidFill>
                  <a:srgbClr val="E4E0DE"/>
                </a:solidFill>
                <a:latin typeface="Tahoma"/>
                <a:cs typeface="Tahoma"/>
              </a:rPr>
              <a:t>by</a:t>
            </a:r>
            <a:r>
              <a:rPr sz="1900" spc="-18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incorporating</a:t>
            </a:r>
            <a:r>
              <a:rPr sz="1900" spc="-18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50" dirty="0">
                <a:solidFill>
                  <a:srgbClr val="E4E0DE"/>
                </a:solidFill>
                <a:latin typeface="Tahoma"/>
                <a:cs typeface="Tahoma"/>
              </a:rPr>
              <a:t>new</a:t>
            </a:r>
            <a:r>
              <a:rPr sz="1900" spc="-18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20" dirty="0">
                <a:solidFill>
                  <a:srgbClr val="E4E0DE"/>
                </a:solidFill>
                <a:latin typeface="Tahoma"/>
                <a:cs typeface="Tahoma"/>
              </a:rPr>
              <a:t>data</a:t>
            </a:r>
            <a:r>
              <a:rPr sz="1900" spc="-18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45" dirty="0">
                <a:solidFill>
                  <a:srgbClr val="E4E0DE"/>
                </a:solidFill>
                <a:latin typeface="Tahoma"/>
                <a:cs typeface="Tahoma"/>
              </a:rPr>
              <a:t>and</a:t>
            </a:r>
            <a:r>
              <a:rPr sz="1900" spc="-18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exploring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900" spc="-20" dirty="0">
                <a:solidFill>
                  <a:srgbClr val="E4E0DE"/>
                </a:solidFill>
                <a:latin typeface="Tahoma"/>
                <a:cs typeface="Tahoma"/>
              </a:rPr>
              <a:t>advanced</a:t>
            </a:r>
            <a:r>
              <a:rPr sz="1900" spc="-17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techniques.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0642" y="4092448"/>
            <a:ext cx="728662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40" dirty="0">
                <a:solidFill>
                  <a:srgbClr val="E4E0DE"/>
                </a:solidFill>
                <a:latin typeface="Tahoma"/>
                <a:cs typeface="Tahoma"/>
              </a:rPr>
              <a:t>Implement</a:t>
            </a:r>
            <a:r>
              <a:rPr sz="1900" spc="-14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the</a:t>
            </a:r>
            <a:r>
              <a:rPr sz="1900" spc="-14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recommendations</a:t>
            </a:r>
            <a:r>
              <a:rPr sz="1900" spc="-14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into</a:t>
            </a:r>
            <a:r>
              <a:rPr sz="1900" spc="-14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20" dirty="0">
                <a:solidFill>
                  <a:srgbClr val="E4E0DE"/>
                </a:solidFill>
                <a:latin typeface="Tahoma"/>
                <a:cs typeface="Tahoma"/>
              </a:rPr>
              <a:t>team</a:t>
            </a:r>
            <a:r>
              <a:rPr sz="1900" spc="-14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practices</a:t>
            </a:r>
            <a:r>
              <a:rPr sz="1900" spc="-14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45" dirty="0">
                <a:solidFill>
                  <a:srgbClr val="E4E0DE"/>
                </a:solidFill>
                <a:latin typeface="Tahoma"/>
                <a:cs typeface="Tahoma"/>
              </a:rPr>
              <a:t>and</a:t>
            </a:r>
            <a:r>
              <a:rPr sz="1900" spc="-14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observe</a:t>
            </a:r>
            <a:r>
              <a:rPr sz="1900" spc="-14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25" dirty="0">
                <a:solidFill>
                  <a:srgbClr val="E4E0DE"/>
                </a:solidFill>
                <a:latin typeface="Tahoma"/>
                <a:cs typeface="Tahoma"/>
              </a:rPr>
              <a:t>the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impact</a:t>
            </a:r>
            <a:r>
              <a:rPr sz="1900" spc="-15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30" dirty="0">
                <a:solidFill>
                  <a:srgbClr val="E4E0DE"/>
                </a:solidFill>
                <a:latin typeface="Tahoma"/>
                <a:cs typeface="Tahoma"/>
              </a:rPr>
              <a:t>on</a:t>
            </a:r>
            <a:r>
              <a:rPr sz="1900" spc="-15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race</a:t>
            </a:r>
            <a:r>
              <a:rPr sz="1900" spc="-14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performance.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4143" y="6149848"/>
            <a:ext cx="728535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Share</a:t>
            </a:r>
            <a:r>
              <a:rPr sz="1900" spc="-20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the</a:t>
            </a:r>
            <a:r>
              <a:rPr sz="1900" spc="-20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ﬁndings</a:t>
            </a:r>
            <a:r>
              <a:rPr sz="1900" spc="-19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with</a:t>
            </a:r>
            <a:r>
              <a:rPr sz="1900" spc="-20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the</a:t>
            </a:r>
            <a:r>
              <a:rPr sz="1900" spc="-19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wider</a:t>
            </a:r>
            <a:r>
              <a:rPr sz="1900" spc="-20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50" dirty="0">
                <a:solidFill>
                  <a:srgbClr val="E4E0DE"/>
                </a:solidFill>
                <a:latin typeface="Tahoma"/>
                <a:cs typeface="Tahoma"/>
              </a:rPr>
              <a:t>F1</a:t>
            </a:r>
            <a:r>
              <a:rPr sz="1900" spc="-20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community</a:t>
            </a:r>
            <a:r>
              <a:rPr sz="1900" spc="-19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to</a:t>
            </a:r>
            <a:r>
              <a:rPr sz="1900" spc="-20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promote</a:t>
            </a:r>
            <a:r>
              <a:rPr sz="1900" spc="-195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innovation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900" spc="-45" dirty="0">
                <a:solidFill>
                  <a:srgbClr val="E4E0DE"/>
                </a:solidFill>
                <a:latin typeface="Tahoma"/>
                <a:cs typeface="Tahoma"/>
              </a:rPr>
              <a:t>and</a:t>
            </a:r>
            <a:r>
              <a:rPr sz="1900" spc="-11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data-driven</a:t>
            </a:r>
            <a:r>
              <a:rPr sz="1900" spc="-110" dirty="0">
                <a:solidFill>
                  <a:srgbClr val="E4E0DE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E4E0DE"/>
                </a:solidFill>
                <a:latin typeface="Tahoma"/>
                <a:cs typeface="Tahoma"/>
              </a:rPr>
              <a:t>decision-</a:t>
            </a:r>
            <a:r>
              <a:rPr sz="1900" spc="-10" dirty="0">
                <a:solidFill>
                  <a:srgbClr val="E4E0DE"/>
                </a:solidFill>
                <a:latin typeface="Tahoma"/>
                <a:cs typeface="Tahoma"/>
              </a:rPr>
              <a:t>making.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056" y="1300107"/>
            <a:ext cx="1740383" cy="121245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479" y="3705954"/>
            <a:ext cx="1740383" cy="129570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8229" y="5950278"/>
            <a:ext cx="1740383" cy="1188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679</Words>
  <Application>Microsoft Macintosh PowerPoint</Application>
  <PresentationFormat>Custom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Tahoma</vt:lpstr>
      <vt:lpstr>Times New Roman</vt:lpstr>
      <vt:lpstr>Office Theme</vt:lpstr>
      <vt:lpstr>F1 Race performance prediction : A Deep</vt:lpstr>
      <vt:lpstr>Project Overview</vt:lpstr>
      <vt:lpstr>Business and Data Understanding</vt:lpstr>
      <vt:lpstr>Modeling</vt:lpstr>
      <vt:lpstr>Logistic Regression Model Evaluation</vt:lpstr>
      <vt:lpstr>Decision Tree Regression Model Evaluation</vt:lpstr>
      <vt:lpstr>Conclusion</vt:lpstr>
      <vt:lpstr>Recommendation</vt:lpstr>
      <vt:lpstr>Next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F1-Race-Analysis-A-Deep-Dive</dc:title>
  <cp:lastModifiedBy>Dawa Jarso</cp:lastModifiedBy>
  <cp:revision>1</cp:revision>
  <dcterms:created xsi:type="dcterms:W3CDTF">2026-01-04T21:00:16Z</dcterms:created>
  <dcterms:modified xsi:type="dcterms:W3CDTF">2026-01-04T21:21:35Z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2026-01-04T00:00:00Z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2026-01-04T00:00:00Z</vt:filetime>
  </property>
</Properties>
</file>